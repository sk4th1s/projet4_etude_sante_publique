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5" r:id="rId14"/>
    <p:sldId id="273" r:id="rId15"/>
    <p:sldId id="270" r:id="rId16"/>
    <p:sldId id="276" r:id="rId17"/>
    <p:sldId id="271" r:id="rId18"/>
  </p:sldIdLst>
  <p:sldSz cx="12192000" cy="6858000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BYPJJxCIQ12M1v33x/uzIxIDz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E22F475D-D0FC-0892-D65E-800F2833B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>
            <a:extLst>
              <a:ext uri="{FF2B5EF4-FFF2-40B4-BE49-F238E27FC236}">
                <a16:creationId xmlns:a16="http://schemas.microsoft.com/office/drawing/2014/main" id="{78AA55EF-03B7-43A2-B34A-C4CCA1529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1:notes">
            <a:extLst>
              <a:ext uri="{FF2B5EF4-FFF2-40B4-BE49-F238E27FC236}">
                <a16:creationId xmlns:a16="http://schemas.microsoft.com/office/drawing/2014/main" id="{64C49E4E-618E-88F6-F104-00A5F0C68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2727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3B24DB18-2DBC-7EE1-E3AB-27FF9120C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>
            <a:extLst>
              <a:ext uri="{FF2B5EF4-FFF2-40B4-BE49-F238E27FC236}">
                <a16:creationId xmlns:a16="http://schemas.microsoft.com/office/drawing/2014/main" id="{49F68492-1515-E249-8FB9-0207CA125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:notes">
            <a:extLst>
              <a:ext uri="{FF2B5EF4-FFF2-40B4-BE49-F238E27FC236}">
                <a16:creationId xmlns:a16="http://schemas.microsoft.com/office/drawing/2014/main" id="{2FA6D44B-A2F2-1F43-C7D3-4B1F8672C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5541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BE3031C1-FC58-80AF-F315-E52D6A46B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>
            <a:extLst>
              <a:ext uri="{FF2B5EF4-FFF2-40B4-BE49-F238E27FC236}">
                <a16:creationId xmlns:a16="http://schemas.microsoft.com/office/drawing/2014/main" id="{16304AA1-4EC6-E7BF-9387-27D2CE76B3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fr-FR" dirty="0">
                <a:solidFill>
                  <a:schemeClr val="bg1"/>
                </a:solidFill>
                <a:latin typeface="Helvetica Neue"/>
              </a:rPr>
              <a:t>Disponibilité par habitant : 2785kcal/personne/jour</a:t>
            </a:r>
            <a:endParaRPr lang="fr-FR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" name="Google Shape;214;p13:notes">
            <a:extLst>
              <a:ext uri="{FF2B5EF4-FFF2-40B4-BE49-F238E27FC236}">
                <a16:creationId xmlns:a16="http://schemas.microsoft.com/office/drawing/2014/main" id="{66130AF5-8BEB-A436-6561-96F8D8E5A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04198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6648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Damien Ribreau</a:t>
            </a:r>
            <a:endParaRPr sz="2800" dirty="0"/>
          </a:p>
          <a:p>
            <a:pPr marL="0" lvl="0" indent="0" algn="ctr" rtl="0"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FAO</a:t>
            </a:r>
            <a:endParaRPr dirty="0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/>
              <a:t>Étude sur l’alimentation dans le monde</a:t>
            </a:r>
            <a:endParaRPr dirty="0"/>
          </a:p>
        </p:txBody>
      </p:sp>
      <p:pic>
        <p:nvPicPr>
          <p:cNvPr id="1026" name="Picture 2" descr="Les 5 Pays avec la meilleure alimentation saine">
            <a:extLst>
              <a:ext uri="{FF2B5EF4-FFF2-40B4-BE49-F238E27FC236}">
                <a16:creationId xmlns:a16="http://schemas.microsoft.com/office/drawing/2014/main" id="{E9A83FF8-ED67-999A-C8B5-B813D12A6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749040"/>
            <a:ext cx="6477000" cy="310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Contexte</a:t>
            </a:r>
            <a:endParaRPr sz="3200" dirty="0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187344" y="2624328"/>
            <a:ext cx="10554574" cy="14514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Étude sur l’alimentation et la sous-nutrition dans le monde.</a:t>
            </a:r>
          </a:p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Montrer si il y a assez de nourriture produite pour nourrir la population mondiale.</a:t>
            </a:r>
            <a:endParaRPr dirty="0"/>
          </a:p>
        </p:txBody>
      </p:sp>
      <p:pic>
        <p:nvPicPr>
          <p:cNvPr id="2050" name="Picture 2" descr="Le mémoire : questionnements. | art, langage, apprentissage">
            <a:extLst>
              <a:ext uri="{FF2B5EF4-FFF2-40B4-BE49-F238E27FC236}">
                <a16:creationId xmlns:a16="http://schemas.microsoft.com/office/drawing/2014/main" id="{FAB0959B-8CE0-D1C1-526B-5A41A29B1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671" y="3720502"/>
            <a:ext cx="2962656" cy="296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Décomposition d’un  problème complexe en plusieurs problèmes simples</a:t>
            </a:r>
            <a:endParaRPr sz="32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AA9661-8C4C-FEB2-F4DC-E3C5CA7E2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470" y="2675872"/>
            <a:ext cx="8291059" cy="3432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912608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1 personne sur 15 dans le monde est en sous nutrition</a:t>
            </a:r>
            <a:endParaRPr sz="32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3DD08DC-E287-1CD3-2A10-FB0EFD13B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68" y="2221146"/>
            <a:ext cx="5644155" cy="45362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7"/>
            <a:ext cx="11278368" cy="100670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De la nourriture pour 10,5milliards de personnes.</a:t>
            </a:r>
            <a:endParaRPr sz="32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DC8CD13-12DC-C0A8-7698-38CFE9890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94" t="13676"/>
          <a:stretch/>
        </p:blipFill>
        <p:spPr>
          <a:xfrm>
            <a:off x="2878738" y="2185416"/>
            <a:ext cx="5420933" cy="44526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01288" y="530352"/>
            <a:ext cx="10571998" cy="89003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Assez de nourriture végétale pour le monde.</a:t>
            </a:r>
            <a:endParaRPr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B68ECE2-936E-427C-87CF-27C734D22D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54" t="12210" r="13072" b="3150"/>
          <a:stretch/>
        </p:blipFill>
        <p:spPr>
          <a:xfrm>
            <a:off x="3044952" y="2206349"/>
            <a:ext cx="4782312" cy="44612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098792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La moitié de la disponibilité intérieure pour la nourriture</a:t>
            </a:r>
            <a:endParaRPr dirty="0"/>
          </a:p>
        </p:txBody>
      </p:sp>
      <p:pic>
        <p:nvPicPr>
          <p:cNvPr id="3" name="Image 2" descr="Une image contenant texte, capture d’écran, diagramme, cercle&#10;&#10;Description générée automatiquement">
            <a:extLst>
              <a:ext uri="{FF2B5EF4-FFF2-40B4-BE49-F238E27FC236}">
                <a16:creationId xmlns:a16="http://schemas.microsoft.com/office/drawing/2014/main" id="{2CB2A2FE-9826-03B7-472B-D7AAF0151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1938527"/>
            <a:ext cx="6172200" cy="47544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91440"/>
            <a:ext cx="10571998" cy="16916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SzPts val="3200"/>
            </a:pPr>
            <a:r>
              <a:rPr lang="fr-FR" dirty="0"/>
              <a:t>La majorité des céréales sont utilisées soit pour la nourriture soit pour l’alimentation animale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DB7B68B-9C92-4B04-CDD7-ED4ED3E6D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89" y="2358115"/>
            <a:ext cx="5166195" cy="4059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Les 10 pays avec le plus de sous-nutrition ont entre 25% et 50% de leur population en sous-nutrition </a:t>
            </a:r>
            <a:endParaRPr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9D0276B-BB2D-B13C-7250-E1EDAD9A1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287" y="2323837"/>
            <a:ext cx="7290435" cy="4344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144462"/>
            <a:ext cx="10571998" cy="169348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dirty="0"/>
              <a:t>3 pays avec beaucoup d’aide, </a:t>
            </a:r>
            <a:br>
              <a:rPr lang="fr-FR" dirty="0"/>
            </a:br>
            <a:r>
              <a:rPr lang="fr-FR" dirty="0"/>
              <a:t>aucun des 10 pays précédents dans les aides alimentaires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77EA72-6AF6-6E4A-3CE5-7BD0C10C4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832" y="2009396"/>
            <a:ext cx="5093207" cy="470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1056888" y="40146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L’aide alimentaire en baisse </a:t>
            </a:r>
            <a:endParaRPr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85E60C6C-B5B0-62A1-5A93-2CC5988B6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448" y="2231135"/>
            <a:ext cx="7515104" cy="448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60B8C490-052A-2F65-E0C2-A30FCB1F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>
            <a:extLst>
              <a:ext uri="{FF2B5EF4-FFF2-40B4-BE49-F238E27FC236}">
                <a16:creationId xmlns:a16="http://schemas.microsoft.com/office/drawing/2014/main" id="{55FD3006-8C68-1BA0-39C4-3993FD3C4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802880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La disponibilité la plus forte dans l’hémisphère nord</a:t>
            </a:r>
            <a:endParaRPr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833A96A-B990-5443-9054-5550A385C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710" y="2304799"/>
            <a:ext cx="8009001" cy="4186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0A4DDC4-C3A1-0B5C-62A8-A0514B41B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0734" y="2446050"/>
            <a:ext cx="1200393" cy="363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595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558AA970-5CD7-8309-1F31-94B7079D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>
            <a:extLst>
              <a:ext uri="{FF2B5EF4-FFF2-40B4-BE49-F238E27FC236}">
                <a16:creationId xmlns:a16="http://schemas.microsoft.com/office/drawing/2014/main" id="{78E1A17D-353D-B823-17EF-F4EFB72F6B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994904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La disponibilité la plus faible dans l’hémisphère sud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42CF6FD-3B5F-69D7-6958-C230127A1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998" y="2294788"/>
            <a:ext cx="8100767" cy="423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4333421-0EB6-852E-4195-1039DC788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6472" y="2433288"/>
            <a:ext cx="1236408" cy="399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11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6B57AA3E-EAE4-EDEB-7B08-DDC79CB81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>
            <a:extLst>
              <a:ext uri="{FF2B5EF4-FFF2-40B4-BE49-F238E27FC236}">
                <a16:creationId xmlns:a16="http://schemas.microsoft.com/office/drawing/2014/main" id="{6F411BCD-EFF3-04E5-27F8-9DF65EDC1D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Une exportation trop importante en Thaïlande</a:t>
            </a:r>
            <a:endParaRPr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9C9F1F-49A4-3D47-8A69-1EAF842D1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02" y="2418718"/>
            <a:ext cx="4023055" cy="307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8A8BF96-D8C5-C007-A795-690AEE225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593" y="2336101"/>
            <a:ext cx="3675507" cy="3370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61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Analyses complémentaires</a:t>
            </a:r>
            <a:endParaRPr sz="3200" dirty="0"/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Les apports nutritionnels : </a:t>
            </a:r>
          </a:p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	Les protéines dans les végétaux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75A90D-951D-6149-56CC-318ADD27B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47188"/>
            <a:ext cx="11890248" cy="970450"/>
          </a:xfrm>
        </p:spPr>
        <p:txBody>
          <a:bodyPr/>
          <a:lstStyle/>
          <a:p>
            <a:r>
              <a:rPr lang="fr-FR" sz="3200" dirty="0"/>
              <a:t>3 personnes sur 5 en carence de protéines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8F508A4-97AC-0328-1A58-A185C6B0B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5" y="3273552"/>
            <a:ext cx="7817673" cy="253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23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Nourriture végétale :</a:t>
            </a:r>
          </a:p>
          <a:p>
            <a:pPr marL="342900" lvl="0" indent="-22860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	Apport calorique ok</a:t>
            </a:r>
          </a:p>
          <a:p>
            <a:pPr marL="342900" lvl="0" indent="-22860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	Apport protéines insuffisant</a:t>
            </a:r>
          </a:p>
          <a:p>
            <a:pPr marL="342900" lvl="0" indent="-22860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La disponibilité alimentaire coupe le monde en deux</a:t>
            </a:r>
          </a:p>
          <a:p>
            <a:pPr marL="342900" lvl="0" indent="-22860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342900" lvl="0" indent="-228600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Des aides alimentaires impactées par les événements locaux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1827</TotalTime>
  <Words>214</Words>
  <Application>Microsoft Office PowerPoint</Application>
  <PresentationFormat>Grand écran</PresentationFormat>
  <Paragraphs>35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Noto Sans Symbols</vt:lpstr>
      <vt:lpstr>Arial</vt:lpstr>
      <vt:lpstr>Helvetica Neue</vt:lpstr>
      <vt:lpstr>Calibri</vt:lpstr>
      <vt:lpstr>Century Gothic</vt:lpstr>
      <vt:lpstr>Entre guillemets</vt:lpstr>
      <vt:lpstr>Étude sur l’alimentation dans le monde</vt:lpstr>
      <vt:lpstr>Contexte</vt:lpstr>
      <vt:lpstr>Décomposition d’un  problème complexe en plusieurs problèmes simples</vt:lpstr>
      <vt:lpstr>1 personne sur 15 dans le monde est en sous nutrition</vt:lpstr>
      <vt:lpstr>De la nourriture pour 10,5milliards de personnes.</vt:lpstr>
      <vt:lpstr>Assez de nourriture végétale pour le monde.</vt:lpstr>
      <vt:lpstr>La moitié de la disponibilité intérieure pour la nourriture</vt:lpstr>
      <vt:lpstr>La majorité des céréales sont utilisées soit pour la nourriture soit pour l’alimentation animale</vt:lpstr>
      <vt:lpstr>Les 10 pays avec le plus de sous-nutrition ont entre 25% et 50% de leur population en sous-nutrition </vt:lpstr>
      <vt:lpstr>3 pays avec beaucoup d’aide,  aucun des 10 pays précédents dans les aides alimentaires</vt:lpstr>
      <vt:lpstr>L’aide alimentaire en baisse </vt:lpstr>
      <vt:lpstr>La disponibilité la plus forte dans l’hémisphère nord</vt:lpstr>
      <vt:lpstr>La disponibilité la plus faible dans l’hémisphère sud</vt:lpstr>
      <vt:lpstr>Une exportation trop importante en Thaïlande</vt:lpstr>
      <vt:lpstr>Analyses complémentaires</vt:lpstr>
      <vt:lpstr>3 personnes sur 5 en carence de protéines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Étude sur l’alimentation dans le monde</dc:title>
  <dc:creator>JeY jEy</dc:creator>
  <cp:lastModifiedBy>damiien 117</cp:lastModifiedBy>
  <cp:revision>47</cp:revision>
  <dcterms:created xsi:type="dcterms:W3CDTF">2023-03-17T20:58:30Z</dcterms:created>
  <dcterms:modified xsi:type="dcterms:W3CDTF">2024-03-08T08:07:36Z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